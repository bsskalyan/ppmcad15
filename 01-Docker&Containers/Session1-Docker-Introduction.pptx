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57" r:id="rId15"/>
    <p:sldId id="274" r:id="rId16"/>
    <p:sldId id="275" r:id="rId17"/>
    <p:sldId id="260" r:id="rId18"/>
    <p:sldId id="276" r:id="rId19"/>
    <p:sldId id="277" r:id="rId20"/>
    <p:sldId id="278" r:id="rId21"/>
    <p:sldId id="268" r:id="rId22"/>
    <p:sldId id="269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31BCC-B845-41CD-8582-70912235F744}" v="7" dt="2026-02-06T18:20:31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addSld delSld modSld">
      <pc:chgData name="Aryan Mohan" userId="77a2dff1-d756-46e3-a0b9-082fc1d2bd17" providerId="ADAL" clId="{E2654676-0C05-4358-BE33-21987F7BEE9B}" dt="2026-02-06T18:20:31.125" v="8"/>
      <pc:docMkLst>
        <pc:docMk/>
      </pc:docMkLst>
      <pc:sldChg chg="del">
        <pc:chgData name="Aryan Mohan" userId="77a2dff1-d756-46e3-a0b9-082fc1d2bd17" providerId="ADAL" clId="{E2654676-0C05-4358-BE33-21987F7BEE9B}" dt="2026-02-06T18:11:28.204" v="3" actId="47"/>
        <pc:sldMkLst>
          <pc:docMk/>
          <pc:sldMk cId="0" sldId="257"/>
        </pc:sldMkLst>
      </pc:sldChg>
      <pc:sldChg chg="del">
        <pc:chgData name="Aryan Mohan" userId="77a2dff1-d756-46e3-a0b9-082fc1d2bd17" providerId="ADAL" clId="{E2654676-0C05-4358-BE33-21987F7BEE9B}" dt="2026-02-06T18:20:20.411" v="5" actId="47"/>
        <pc:sldMkLst>
          <pc:docMk/>
          <pc:sldMk cId="0" sldId="260"/>
        </pc:sldMkLst>
      </pc:sldChg>
      <pc:sldChg chg="modSp add del setBg">
        <pc:chgData name="Aryan Mohan" userId="77a2dff1-d756-46e3-a0b9-082fc1d2bd17" providerId="ADAL" clId="{E2654676-0C05-4358-BE33-21987F7BEE9B}" dt="2026-02-06T18:12:06.388" v="4" actId="339"/>
        <pc:sldMkLst>
          <pc:docMk/>
          <pc:sldMk cId="0" sldId="271"/>
        </pc:sldMkLst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9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21" creationId="{00000000-0000-0000-0000-000000000000}"/>
          </ac:picMkLst>
        </pc:picChg>
      </pc:sldChg>
      <pc:sldChg chg="add del setBg">
        <pc:chgData name="Aryan Mohan" userId="77a2dff1-d756-46e3-a0b9-082fc1d2bd17" providerId="ADAL" clId="{E2654676-0C05-4358-BE33-21987F7BEE9B}" dt="2026-02-06T18:20:31.125" v="8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78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and Docker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fundamentals of containerization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problems containers solve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architecture and core concepts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Master essential Docker commands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your first 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41145" y="4409329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24025" y="4464193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465" y="4555633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Text 15"/>
          <p:cNvSpPr/>
          <p:nvPr/>
        </p:nvSpPr>
        <p:spPr>
          <a:xfrm>
            <a:off x="1564105" y="4555633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hands-on exercises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F804D7E-677B-3E72-254F-51528A6CDE70}"/>
              </a:ext>
            </a:extLst>
          </p:cNvPr>
          <p:cNvSpPr/>
          <p:nvPr/>
        </p:nvSpPr>
        <p:spPr>
          <a:xfrm>
            <a:off x="739539" y="3791705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61A31B23-3969-EE65-FE99-320D0C8D5C92}"/>
              </a:ext>
            </a:extLst>
          </p:cNvPr>
          <p:cNvSpPr/>
          <p:nvPr/>
        </p:nvSpPr>
        <p:spPr>
          <a:xfrm>
            <a:off x="922419" y="3846569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FB702BB4-3F5D-80E0-5EAD-A11D9092A01E}"/>
              </a:ext>
            </a:extLst>
          </p:cNvPr>
          <p:cNvSpPr/>
          <p:nvPr/>
        </p:nvSpPr>
        <p:spPr>
          <a:xfrm>
            <a:off x="1562499" y="3938009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</a:t>
            </a: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Networks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2">
            <a:extLst>
              <a:ext uri="{FF2B5EF4-FFF2-40B4-BE49-F238E27FC236}">
                <a16:creationId xmlns:a16="http://schemas.microsoft.com/office/drawing/2014/main" id="{2085A913-A3CE-0C3F-6D96-0DDA54917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393733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We’re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“But it works on my machine!”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environments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 issues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configurations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Containers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2064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everywhere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Containers?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1828800" cy="182880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1280160" cy="12801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3383280" y="14630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portable, isolated environments that package your application with all its dependencies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50" y="3645870"/>
            <a:ext cx="343501" cy="3435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7724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- dev, test, production, cloud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38328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783" y="3623383"/>
            <a:ext cx="312274" cy="3122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3608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61188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runs independently with own resources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18" y="3690918"/>
            <a:ext cx="283885" cy="2838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44652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OS kernel, start in seconds, minimal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2BC7588-17D0-53A5-6B88-B55DADA9534C}"/>
              </a:ext>
            </a:extLst>
          </p:cNvPr>
          <p:cNvSpPr/>
          <p:nvPr/>
        </p:nvSpPr>
        <p:spPr>
          <a:xfrm>
            <a:off x="220980" y="944880"/>
            <a:ext cx="2849880" cy="35890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FD4B05-A571-6313-9DEA-EA27854A5930}"/>
              </a:ext>
            </a:extLst>
          </p:cNvPr>
          <p:cNvSpPr/>
          <p:nvPr/>
        </p:nvSpPr>
        <p:spPr>
          <a:xfrm>
            <a:off x="3116580" y="944880"/>
            <a:ext cx="5836920" cy="35890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Virtual Machines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956560"/>
            <a:ext cx="2743200" cy="50292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30708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453640"/>
            <a:ext cx="2743200" cy="50292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25679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950720"/>
            <a:ext cx="2743200" cy="5029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065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150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0" y="295656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0" y="3093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253746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0" y="25984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212598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2648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3550920"/>
            <a:ext cx="274320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0" y="36195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3139440"/>
            <a:ext cx="2743200" cy="41148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208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26480" y="2682240"/>
            <a:ext cx="2743200" cy="45720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26480" y="277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26480" y="2225040"/>
            <a:ext cx="2743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26480" y="231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26480" y="192786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26480" y="195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26480" y="160782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26480" y="16535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4602480"/>
            <a:ext cx="867918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4648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– faster, lighter, more efficient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12725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VMs: Hardware-level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95800" y="1242060"/>
            <a:ext cx="303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Containers: OS-level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80160" y="155448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9164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 4"/>
          <p:cNvSpPr/>
          <p:nvPr/>
        </p:nvSpPr>
        <p:spPr>
          <a:xfrm>
            <a:off x="219456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94560" y="1847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command-line interface to interact with Docker. Execute commands like docker run, docker build.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56032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14400" y="256032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280160" y="274320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88036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10"/>
          <p:cNvSpPr/>
          <p:nvPr/>
        </p:nvSpPr>
        <p:spPr>
          <a:xfrm>
            <a:off x="219456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194560" y="3035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Daemon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Docker. Manages containers, images, networks, and volumes on your system.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4400" y="374904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914400" y="374904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1280160" y="393192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06908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1" name="Text 16"/>
          <p:cNvSpPr/>
          <p:nvPr/>
        </p:nvSpPr>
        <p:spPr>
          <a:xfrm>
            <a:off x="219456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2194560" y="4224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120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repository (Docker Hub) where images are stored and shared globally.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vs Containers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class and its objects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4688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/ Template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snapshot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app + dependencies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registry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645920"/>
            <a:ext cx="384048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46888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state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/ stop / delete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Docker’s Layered 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998220" cy="998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1051560"/>
            <a:ext cx="5760720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Dockerfile instruction creates a new layer.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and reused for efficiency!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4107180"/>
            <a:ext cx="4572000" cy="41148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423160" y="4180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Writable Container Layer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3649980"/>
            <a:ext cx="4572000" cy="411480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23160" y="37231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[“python”, “app.py”]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3192780"/>
            <a:ext cx="4572000" cy="41148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23160" y="32659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/app/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2735580"/>
            <a:ext cx="4572000" cy="4114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23160" y="28087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0" y="2278380"/>
            <a:ext cx="45720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423160" y="23515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/app/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0" y="1821180"/>
            <a:ext cx="45720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423160" y="1894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71600" y="4564380"/>
            <a:ext cx="6400800" cy="137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371600" y="47472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layers are reused - Faster builds!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02870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1109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1109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image from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1333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956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956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start a container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9796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0802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802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82596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648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648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running container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67228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495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0495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stopped container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5186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5341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341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downloaded images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3649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0187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187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container output logs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2112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5034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5034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interactive shell in container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Fundamentals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457200" cy="4572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18288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with instructions to build a Docker image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2249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0" y="2249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to build upon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9496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33472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6883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0" y="26883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072384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8600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host to image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511296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008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8600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 during build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949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950208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005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286000" y="4005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 application uses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4005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8912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" y="44439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286000" y="4443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when container starts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94960" y="4443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Dockerfile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1927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676656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Python base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python:3.9-slim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working directory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dependency file first (for caching)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application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Expose 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application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4541520"/>
            <a:ext cx="54864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0" y="477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Copy dependencies before code for better caching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11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54480" y="12542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54480" y="12542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2999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2999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Dockerfile with build instructions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8402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371600" y="182118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554480" y="18943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54480" y="18943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9400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9400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docker build -t myapp:latest 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297680" y="232410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371600" y="246126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554480" y="25344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554480" y="25344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25801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0320" y="25801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reads Dockerfile line by line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297680" y="296418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371600" y="310134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554480" y="31744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1554480" y="31744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32202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60320" y="32202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creates a new layer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60426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371600" y="374142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1554480" y="38145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1554480" y="38145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38602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60320" y="38602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for faster rebuilds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4297680" y="424434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1371600" y="43815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1554480" y="44546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1554480" y="44546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450037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60320" y="45003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is ready to run!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- Data Persistence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37360"/>
            <a:ext cx="587141" cy="587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5097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deleted = Data LOST!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With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587141" cy="587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234315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container lifecycles!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" y="294533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6537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1109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 (PostgreSQL, MongoDB, MySQL)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113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67685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and metrics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9689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404261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User-uploaded files and media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265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25880" y="440837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 that change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2841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25880" y="477413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between containers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Types of Docker Volumes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Docker, easy to use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26280" y="149047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mydata:/app/data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Production databases, persistent app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3716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to host filesystem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72491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/host/path:/container/path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Development, code hot-reload, config files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37160" cy="10972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auto-generated by Docker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26280" y="395935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Temporary data, one-time use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Basics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isolated by default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3864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839455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93089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bridge (default)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17519" y="2885175"/>
            <a:ext cx="39704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 for containers on same 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17520" y="3068055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Most common, container-to-container communication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3369807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346124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17520" y="3415527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isolation, uses host’s network directly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17520" y="3598407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performance, no port mapping needed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900159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97280" y="399159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017520" y="394587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isolated, no network access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017520" y="4128759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security, batch processing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4430511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452195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custom bridge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017520" y="4476231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network with DNS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017520" y="4659111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Best practice for multi-container apps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Explained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1920240"/>
            <a:ext cx="1828800" cy="0"/>
          </a:xfrm>
          <a:prstGeom prst="line">
            <a:avLst/>
          </a:prstGeom>
          <a:noFill/>
          <a:ln w="635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192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2743200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697478"/>
            <a:ext cx="7680960" cy="225953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port mapping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ports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8080:80 -p 8443:443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 specific interface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127.0.0.1:8080:80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host port (avoid conflicts)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 vs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Dockerfile execution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(can be overridden)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["echo", "Hello"]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Run normally: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 CMD: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echo "Bye"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Bye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(overridden!)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Flexible containers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executable (harder to override)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34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["echo"]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Arguments passed to echo: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(your args)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Args appended: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"Hello!"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Hello!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Fixed-purpose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CMD +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 for maximum flexibility!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434164"/>
            <a:ext cx="7315200" cy="332071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= the executable (fixed)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["ping", "-c", "3"]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CMD = default arguments (can override)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["google.com"]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examples: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google.com (uses CMD)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 8.8.8.8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8.8.8.8 (CMD overridden)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stays the same (ping -c 3)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Only the target changes!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Logs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27961"/>
            <a:ext cx="3840480" cy="2012739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698859"/>
            <a:ext cx="3566160" cy="1643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Pass environment variables, these override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ENV or create new 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NODE_ENV=production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PORT=3000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DB_HOST=postgres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From env 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655193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Dockerfile: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927107"/>
            <a:ext cx="3474720" cy="5486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036835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Viewing Logs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840480" cy="326055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737359"/>
            <a:ext cx="3566160" cy="2825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View all logs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 logs (real-time)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Last 100 lines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--tail 100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timestamps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-t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Since specific time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--since 10m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Dockerfile Instructions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node:16-alpine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files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+ extract archives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 app.tar.gz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459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634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07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6459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459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 VERSION=1.0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607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607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486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6459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459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 /data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634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634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663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607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Switch user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7607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486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48640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6459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6459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6634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6634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1050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7607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executable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7607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["node"]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Practice!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hands-on exercises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231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post-class activity guide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632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1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different base images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03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031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Docker Hub and Docker Compose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434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31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Advanced Docker with GenAI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containerize the world?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1365</Words>
  <Application>Microsoft Office PowerPoint</Application>
  <PresentationFormat>On-screen Show (16:9)</PresentationFormat>
  <Paragraphs>361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Containers and Docker</dc:title>
  <dc:subject>PptxGenJS Presentation</dc:subject>
  <dc:creator>Docker Training Program</dc:creator>
  <cp:lastModifiedBy>KubeCraft Technologies</cp:lastModifiedBy>
  <cp:revision>14</cp:revision>
  <dcterms:created xsi:type="dcterms:W3CDTF">2026-02-06T17:28:04Z</dcterms:created>
  <dcterms:modified xsi:type="dcterms:W3CDTF">2026-02-07T05:56:41Z</dcterms:modified>
</cp:coreProperties>
</file>